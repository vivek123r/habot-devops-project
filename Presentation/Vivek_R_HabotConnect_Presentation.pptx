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1675"/>
  <p:notesSz cx="6858000" cy="9144000"/>
  <p:embeddedFontLs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796B62-BC76-424F-9FC1-9A26B8113F66}">
  <a:tblStyle styleId="{26796B62-BC76-424F-9FC1-9A26B8113F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5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4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Quattrocento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Greet the panel by name; one sentence of thanks. Frame the theme in one line: every mechanism shown removes a class of human error rather than asking people to be careful. Flag early that both mapping spreadsheets are ready for review.</a:t>
            </a:r>
            <a:endParaRPr/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Restate the scenario in my own words: two symptoms, one disease. The junior developer is not the villain; the absence of gates is. That framing lands with technical and non-technical panelists alike.</a:t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happy path once, left to right. Then explain raw archiving: replayability beats hope. If cost comes up: single region, smallest viable instances, partition filters and bounded retention keep spend deliberate.</a:t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 validation is Poka-Yoke at the infrastructure layer. Mention prevent_destroy on encryption keys and the App Engine permanence guard.</a:t>
            </a:r>
            <a:endParaRPr/>
          </a:p>
        </p:txBody>
      </p:sp>
      <p:sp>
        <p:nvSpPr>
          <p:cNvPr id="163" name="Google Shape;16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Lead with rotation and immutability, then passwordless logins - expect the question about database credentials: there are none to rotate; revocation is disabling one service account.</a:t>
            </a:r>
            <a:endParaRPr/>
          </a:p>
        </p:txBody>
      </p:sp>
      <p:sp>
        <p:nvSpPr>
          <p:cNvPr id="197" name="Google Shape;19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the two conditional grants aloud - incoming and raw prefixes. The sentence that matters: every permission lives in one file an auditor can read in five minutes.</a:t>
            </a:r>
            <a:endParaRPr/>
          </a:p>
        </p:txBody>
      </p:sp>
      <p:sp>
        <p:nvSpPr>
          <p:cNvPr id="220" name="Google Shape;22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ad3cb1cdc_0_3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ad3cb1cdc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Prefer live demo if network allows; screenshots otherwise. Narrate the redaction detail: even failure output refuses to echo the secret. Show the blocked merge banner.</a:t>
            </a:r>
            <a:endParaRPr/>
          </a:p>
        </p:txBody>
      </p:sp>
      <p:sp>
        <p:nvSpPr>
          <p:cNvPr id="287" name="Google Shape;28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constants.py live if possible; spreadsheets quote the same file. Boundary pairs prove arithmetic, not judgment: two years accepted versus one day short rejected.</a:t>
            </a:r>
            <a:endParaRPr/>
          </a:p>
        </p:txBody>
      </p:sp>
      <p:sp>
        <p:nvSpPr>
          <p:cNvPr id="310" name="Google Shape;31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name plainly: Decision Yes/No. Show one persisted record; identifiers stay stable forever so audits remain comparable across releases.</a:t>
            </a:r>
            <a:endParaRPr/>
          </a:p>
        </p:txBody>
      </p:sp>
      <p:sp>
        <p:nvSpPr>
          <p:cNvPr id="332" name="Google Shape;33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Call out the boundary pairs explicitly: exactly two years accepted versus one day short rejected. Determinism test proves byte-identical decision records.</a:t>
            </a:r>
            <a:endParaRPr/>
          </a:p>
        </p:txBody>
      </p:sp>
      <p:sp>
        <p:nvSpPr>
          <p:cNvPr id="377" name="Google Shape;37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honestly on culture fit: standards should live in systems so people can do deep work - that matches quiet management. Then stop talking and invite questions.</a:t>
            </a:r>
            <a:endParaRPr/>
          </a:p>
        </p:txBody>
      </p:sp>
      <p:sp>
        <p:nvSpPr>
          <p:cNvPr id="397" name="Google Shape;39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d3cb1cdc_25_0)">
  <p:cSld name="Generated (g3fad3cb1cdc_25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3A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822960" y="1417320"/>
            <a:ext cx="10332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Staging Deployment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>
                <a:solidFill>
                  <a:srgbClr val="6EB3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&amp; Automation Blueprint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841248" y="3310128"/>
            <a:ext cx="1920240" cy="381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822960" y="361188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tasks. Ten fail-closed gates. Twelve binary validation rules.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>
                <a:solidFill>
                  <a:srgbClr val="A9C7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Mistake-proofing by construction, not by vigilance.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822960" y="4983480"/>
            <a:ext cx="6126480" cy="1143000"/>
          </a:xfrm>
          <a:prstGeom prst="roundRect">
            <a:avLst>
              <a:gd fmla="val 16667" name="adj"/>
            </a:avLst>
          </a:prstGeom>
          <a:solidFill>
            <a:srgbClr val="1B3A54"/>
          </a:solidFill>
          <a:ln cap="flat" cmpd="sng" w="9525">
            <a:solidFill>
              <a:srgbClr val="2A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051560" y="5138928"/>
            <a:ext cx="57606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A9C7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987pm</a:t>
            </a:r>
            <a:r>
              <a:rPr b="0" i="0" lang="en-US" sz="1250">
                <a:solidFill>
                  <a:srgbClr val="A9C7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@gmail.com  |  +91 8590609366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FB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Candidate, Junior Cloud &amp; DevOps Engineer (GCP / Django / React)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  CONTEXT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Incidents, One Root Cause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66928" y="1316736"/>
            <a:ext cx="11057839" cy="2794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566928" y="1600200"/>
            <a:ext cx="5413248" cy="1783080"/>
          </a:xfrm>
          <a:prstGeom prst="roundRect">
            <a:avLst>
              <a:gd fmla="val 5500" name="adj"/>
            </a:avLst>
          </a:prstGeom>
          <a:solidFill>
            <a:srgbClr val="FDEEEC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68096" y="1783080"/>
            <a:ext cx="50109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INCIDENT 01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68096" y="2020824"/>
            <a:ext cx="5010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Credentials in raw code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68096" y="2514600"/>
            <a:ext cx="5010912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Unencrypted application programming interface keys committed directly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into source; discoverable by anyone with repository access.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6208776" y="1600200"/>
            <a:ext cx="5413248" cy="1783080"/>
          </a:xfrm>
          <a:prstGeom prst="roundRect">
            <a:avLst>
              <a:gd fmla="val 5500" name="adj"/>
            </a:avLst>
          </a:prstGeom>
          <a:solidFill>
            <a:srgbClr val="FDEEEC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6409944" y="1783080"/>
            <a:ext cx="50109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INCIDENT 02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409944" y="2020824"/>
            <a:ext cx="5010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Schema mismatch broke analytics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409944" y="2514600"/>
            <a:ext cx="5010912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upstream payload change diverged from the warehouse contract;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downstream queries failed silently until reports were already wrong.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66928" y="3703320"/>
            <a:ext cx="11057839" cy="777240"/>
          </a:xfrm>
          <a:prstGeom prst="roundRect">
            <a:avLst>
              <a:gd fmla="val 16667" name="adj"/>
            </a:avLst>
          </a:prstGeom>
          <a:solidFill>
            <a:srgbClr val="12293E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Root cause: quality depended on human memory.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66928" y="4800600"/>
            <a:ext cx="1105783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response demonstrated in this submission: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Poka-Yoke - automated gates that make the wrong path impossible,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 the standard holds even on the worst day.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66928" y="6382512"/>
            <a:ext cx="11057839" cy="1143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66928" y="64465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  |   vivek987pm@gmail.com  |  +91 8590609366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613087" y="6446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/ 12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  ARCHITECTURE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Region, One Validated Path Into Analytics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66928" y="1316736"/>
            <a:ext cx="11057839" cy="2794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66928" y="1783080"/>
            <a:ext cx="2084831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66928" y="1783080"/>
            <a:ext cx="2084831" cy="6400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21792" y="1874520"/>
            <a:ext cx="1975103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Parent Browser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form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2706623" y="2130552"/>
            <a:ext cx="29260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7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127248" y="1783080"/>
            <a:ext cx="2084831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127248" y="1783080"/>
            <a:ext cx="2084831" cy="6400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3182112" y="1874520"/>
            <a:ext cx="1975103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 Engine Standard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Django REST Framework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66928" y="3291840"/>
            <a:ext cx="2084831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66928" y="3291840"/>
            <a:ext cx="2084831" cy="64008"/>
          </a:xfrm>
          <a:prstGeom prst="rect">
            <a:avLst/>
          </a:prstGeom>
          <a:solidFill>
            <a:srgbClr val="122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21792" y="3383280"/>
            <a:ext cx="1975103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SQL PostgreSQL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private address, IAM logins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3127248" y="3291840"/>
            <a:ext cx="2084831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127248" y="3291840"/>
            <a:ext cx="2084831" cy="64008"/>
          </a:xfrm>
          <a:prstGeom prst="rect">
            <a:avLst/>
          </a:prstGeom>
          <a:solidFill>
            <a:srgbClr val="122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3182112" y="3383280"/>
            <a:ext cx="1975103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D0 Raw Landing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retention lock, versioned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66928" y="4800600"/>
            <a:ext cx="2084831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66928" y="4800600"/>
            <a:ext cx="2084831" cy="64008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21792" y="4892040"/>
            <a:ext cx="1975103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Dead-Letter Topic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quarantine after five tries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3127248" y="4800600"/>
            <a:ext cx="2084831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127248" y="4800600"/>
            <a:ext cx="2084831" cy="64008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3182112" y="4892040"/>
            <a:ext cx="1975103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Management Service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customer-managed keys, 90-day rotation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6446520" y="1783080"/>
            <a:ext cx="2377440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446520" y="1783080"/>
            <a:ext cx="2377440" cy="6400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501384" y="1874520"/>
            <a:ext cx="226771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Pub/Sub Topic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validated events only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8878824" y="2130552"/>
            <a:ext cx="29260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7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9162288" y="1783080"/>
            <a:ext cx="2377440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9162288" y="1783080"/>
            <a:ext cx="2377440" cy="6400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9217152" y="1874520"/>
            <a:ext cx="226771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BigQuery Subscription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schema-enforced sink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10250424" y="2752344"/>
            <a:ext cx="201168" cy="40233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67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7772400" y="3291840"/>
            <a:ext cx="3877056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7772400" y="3291840"/>
            <a:ext cx="3877056" cy="6400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827264" y="3383280"/>
            <a:ext cx="37673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D1 Staged Enforced Table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required-mode, date-partitioned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9610344" y="4261104"/>
            <a:ext cx="201168" cy="40233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67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7772400" y="4800600"/>
            <a:ext cx="3877056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772400" y="4800600"/>
            <a:ext cx="3877056" cy="64008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827264" y="4892040"/>
            <a:ext cx="37673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Row-Level Security View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clearance-filtered; parent email never exposed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66928" y="6382512"/>
            <a:ext cx="11057839" cy="1143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66928" y="64465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  |   vivek987pm@gmail.com  |  +91 8590609366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613087" y="6446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/ 12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/>
        </p:nvSpPr>
        <p:spPr>
          <a:xfrm>
            <a:off x="566928" y="365760"/>
            <a:ext cx="11057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  TASK 1 - INFRASTRUCTURE AS CODE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66928" y="621792"/>
            <a:ext cx="11057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Terraform Design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66928" y="1316736"/>
            <a:ext cx="11057700" cy="2790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566928" y="1571625"/>
            <a:ext cx="2194500" cy="45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45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1" sz="2945">
              <a:solidFill>
                <a:srgbClr val="12293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66928" y="2047875"/>
            <a:ext cx="2194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FOCUSED MODULES</a:t>
            </a:r>
            <a:endParaRPr b="1" sz="100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66928" y="2857500"/>
            <a:ext cx="2194500" cy="45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45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100%</a:t>
            </a:r>
            <a:endParaRPr b="1" sz="2945">
              <a:solidFill>
                <a:srgbClr val="12293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566928" y="3333750"/>
            <a:ext cx="2194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INPUTS VALIDATED AT PLAN TIME</a:t>
            </a:r>
            <a:endParaRPr b="1" sz="100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566928" y="4143375"/>
            <a:ext cx="2381100" cy="45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fmt + validate</a:t>
            </a:r>
            <a:endParaRPr b="1" sz="2960">
              <a:solidFill>
                <a:srgbClr val="1B5FC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66928" y="4619625"/>
            <a:ext cx="23811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GREEN IN CI, PROVIDER SCHEMAS</a:t>
            </a:r>
            <a:endParaRPr b="1" sz="100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3238500" y="1571625"/>
            <a:ext cx="4048200" cy="809700"/>
          </a:xfrm>
          <a:prstGeom prst="roundRect">
            <a:avLst>
              <a:gd fmla="val 11764" name="adj"/>
            </a:avLst>
          </a:prstGeom>
          <a:solidFill>
            <a:srgbClr val="EFF5FB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3429000" y="1619250"/>
            <a:ext cx="3667200" cy="38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project_services</a:t>
            </a:r>
            <a:endParaRPr b="1" sz="1250">
              <a:solidFill>
                <a:srgbClr val="12293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required APIs</a:t>
            </a:r>
            <a:endParaRPr b="0" sz="105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524750" y="1571625"/>
            <a:ext cx="4048200" cy="809700"/>
          </a:xfrm>
          <a:prstGeom prst="roundRect">
            <a:avLst>
              <a:gd fmla="val 11764" name="adj"/>
            </a:avLst>
          </a:prstGeom>
          <a:solidFill>
            <a:srgbClr val="EFF5FB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715250" y="1619250"/>
            <a:ext cx="3667200" cy="38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kms_encryption</a:t>
            </a:r>
            <a:endParaRPr b="1" sz="1250">
              <a:solidFill>
                <a:srgbClr val="12293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rotating keys + agent grants</a:t>
            </a:r>
            <a:endParaRPr b="0" sz="105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3238500" y="2524125"/>
            <a:ext cx="4048200" cy="809700"/>
          </a:xfrm>
          <a:prstGeom prst="roundRect">
            <a:avLst>
              <a:gd fmla="val 11764" name="adj"/>
            </a:avLst>
          </a:prstGeom>
          <a:solidFill>
            <a:srgbClr val="EFF5FB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3429000" y="2571750"/>
            <a:ext cx="3667200" cy="38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storage_raw_landing</a:t>
            </a:r>
            <a:endParaRPr b="1" sz="1250">
              <a:solidFill>
                <a:srgbClr val="12293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D0 bucket hardening</a:t>
            </a:r>
            <a:endParaRPr b="0" sz="105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7524750" y="2524125"/>
            <a:ext cx="4048200" cy="809700"/>
          </a:xfrm>
          <a:prstGeom prst="roundRect">
            <a:avLst>
              <a:gd fmla="val 11764" name="adj"/>
            </a:avLst>
          </a:prstGeom>
          <a:solidFill>
            <a:srgbClr val="EFF5FB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715250" y="2571750"/>
            <a:ext cx="3667200" cy="38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bigquery_staged</a:t>
            </a:r>
            <a:endParaRPr b="1" sz="1250">
              <a:solidFill>
                <a:srgbClr val="12293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D1 dataset, RLS view</a:t>
            </a:r>
            <a:endParaRPr b="0" sz="105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238500" y="3476625"/>
            <a:ext cx="4048200" cy="809700"/>
          </a:xfrm>
          <a:prstGeom prst="roundRect">
            <a:avLst>
              <a:gd fmla="val 11764" name="adj"/>
            </a:avLst>
          </a:prstGeom>
          <a:solidFill>
            <a:srgbClr val="EFF5FB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3429000" y="3524250"/>
            <a:ext cx="3667200" cy="38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pubsub_pipeline</a:t>
            </a:r>
            <a:endParaRPr b="1" sz="1250">
              <a:solidFill>
                <a:srgbClr val="12293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events, DLQ, schema sink</a:t>
            </a:r>
            <a:endParaRPr b="0" sz="105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7524750" y="3476625"/>
            <a:ext cx="4048200" cy="809700"/>
          </a:xfrm>
          <a:prstGeom prst="roundRect">
            <a:avLst>
              <a:gd fmla="val 11764" name="adj"/>
            </a:avLst>
          </a:prstGeom>
          <a:solidFill>
            <a:srgbClr val="EFF5FB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7715250" y="3524250"/>
            <a:ext cx="3667200" cy="38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cloud_sql_staging</a:t>
            </a:r>
            <a:endParaRPr b="1" sz="1250">
              <a:solidFill>
                <a:srgbClr val="12293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private PostgreSQL, VPC</a:t>
            </a:r>
            <a:endParaRPr b="0" sz="105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238500" y="4429125"/>
            <a:ext cx="4048200" cy="809700"/>
          </a:xfrm>
          <a:prstGeom prst="roundRect">
            <a:avLst>
              <a:gd fmla="val 11764" name="adj"/>
            </a:avLst>
          </a:prstGeom>
          <a:solidFill>
            <a:srgbClr val="EFF5FB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429000" y="4476750"/>
            <a:ext cx="3667200" cy="38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app_engine_staging</a:t>
            </a:r>
            <a:endParaRPr b="1" sz="1250">
              <a:solidFill>
                <a:srgbClr val="12293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 shell + runtime identity</a:t>
            </a:r>
            <a:endParaRPr b="0" sz="105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7524750" y="4429125"/>
            <a:ext cx="4048200" cy="809700"/>
          </a:xfrm>
          <a:prstGeom prst="roundRect">
            <a:avLst>
              <a:gd fmla="val 11764" name="adj"/>
            </a:avLst>
          </a:prstGeom>
          <a:solidFill>
            <a:srgbClr val="EFF5FB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7715250" y="4476750"/>
            <a:ext cx="3667200" cy="38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iam_bindings</a:t>
            </a:r>
            <a:endParaRPr b="1" sz="1250">
              <a:solidFill>
                <a:srgbClr val="12293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grant, conditional</a:t>
            </a:r>
            <a:endParaRPr b="0" sz="105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3238500" y="5476875"/>
            <a:ext cx="83343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Bad input dies at plan time; keys and the App Engine region refuse destruction.</a:t>
            </a:r>
            <a:endParaRPr b="1" sz="1200">
              <a:solidFill>
                <a:srgbClr val="1B5FC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566928" y="6382512"/>
            <a:ext cx="11057700" cy="1140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566928" y="6446520"/>
            <a:ext cx="7772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  |   vivek987pm@gmail.com  |  +91 8590609366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9613087" y="6446520"/>
            <a:ext cx="2011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/ 12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  SECURITY MODEL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Controls an Auditor Can Verify in Minutes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566928" y="1316736"/>
            <a:ext cx="11057839" cy="2794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566928" y="1645920"/>
            <a:ext cx="3602736" cy="1481328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749808" y="1810512"/>
            <a:ext cx="323697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Encryption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Customer-managed keys rotate every 90 days across Storage, BigQuery, Pub/Sub.</a:t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4293108" y="1645920"/>
            <a:ext cx="3602736" cy="1481328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4475988" y="1810512"/>
            <a:ext cx="323697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Immutability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Retention lock + versioning + soft delete defeat deletion and ransomware paths.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8019288" y="1645920"/>
            <a:ext cx="3602700" cy="148140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8202168" y="1810512"/>
            <a:ext cx="323697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public address. Passwordless IAM logins: revocation equals disabling one identity.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566928" y="3250692"/>
            <a:ext cx="3602736" cy="1481328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749808" y="3415284"/>
            <a:ext cx="323697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Quarantine, not silence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Failed deliveries land encrypted in a dead-letter topic with triage subscription.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4293108" y="3250692"/>
            <a:ext cx="3602736" cy="1481328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4475988" y="3415284"/>
            <a:ext cx="323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secrets in source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Full-history </a:t>
            </a:r>
            <a:r>
              <a:rPr lang="en-US" sz="11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 leaks</a:t>
            </a:r>
            <a:r>
              <a:rPr b="0" i="0" lang="en-US" sz="11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+ Trivy secret scanning; failures print redacted output.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8019288" y="3250692"/>
            <a:ext cx="3602736" cy="1481328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8202168" y="3415284"/>
            <a:ext cx="323697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Evidence by default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acceptance persists its complete per-rule decision record.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566928" y="6382512"/>
            <a:ext cx="11057839" cy="1143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566928" y="64465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  |   vivek987pm@gmail.com  |  +91 8590609366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9613087" y="6446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/ 12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   IDENTITY AND ACCESS MANAGEMENT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Least Privilege, Written Down Once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566928" y="1316736"/>
            <a:ext cx="11057839" cy="2794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" name="Google Shape;225;p19"/>
          <p:cNvGraphicFramePr/>
          <p:nvPr/>
        </p:nvGraphicFramePr>
        <p:xfrm>
          <a:off x="566928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{26796B62-BC76-424F-9FC1-9A26B8113F66}</a:tableStyleId>
              </a:tblPr>
              <a:tblGrid>
                <a:gridCol w="2252525"/>
                <a:gridCol w="4300275"/>
                <a:gridCol w="45050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Identity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1229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May do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1229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Hard boundary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12293E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12293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Runtime (App Engine)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Publish events; create objects; reach SQL; write logs/metrics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Objects only under incoming/ (IAM condition)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12293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Data loader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Read archives; load into staged dataset; replay curated events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Reads only under raw/ (IAM condition)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EFF5F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12293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Analytics viewer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Run jobs; SELECT through secure view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View-only grant; parent email excluded from projection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12293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Pub/Sub agent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Deliver into enforced table; forward failures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Dataset-scoped editor; dead-letter publisher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EFF5FB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9"/>
          <p:cNvSpPr txBox="1"/>
          <p:nvPr/>
        </p:nvSpPr>
        <p:spPr>
          <a:xfrm>
            <a:off x="566928" y="5074920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 project-wide roles total - each already the narrowest Google defines.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Everything else binds at resource level or under object-prefix conditions. All grants live in one reviewable file.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566928" y="6382512"/>
            <a:ext cx="11057839" cy="1143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566928" y="64465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  |   vivek987pm@gmail.com  |  +91 8590609366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9613087" y="6446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 / 12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p20"/>
          <p:cNvGrpSpPr/>
          <p:nvPr/>
        </p:nvGrpSpPr>
        <p:grpSpPr>
          <a:xfrm>
            <a:off x="561975" y="361950"/>
            <a:ext cx="11058600" cy="981000"/>
            <a:chOff x="561975" y="361950"/>
            <a:chExt cx="11058600" cy="981000"/>
          </a:xfrm>
        </p:grpSpPr>
        <p:sp>
          <p:nvSpPr>
            <p:cNvPr id="236" name="Google Shape;236;p20"/>
            <p:cNvSpPr txBox="1"/>
            <p:nvPr/>
          </p:nvSpPr>
          <p:spPr>
            <a:xfrm>
              <a:off x="561975" y="361950"/>
              <a:ext cx="11058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F80E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07 TASK 2 - POKA-YOKE GATE</a:t>
              </a:r>
              <a:endParaRPr b="1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561975" y="619125"/>
              <a:ext cx="11058600" cy="6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Ten Gates Between Commit and Promotion</a:t>
              </a:r>
              <a:endParaRPr b="1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561975" y="1314450"/>
              <a:ext cx="11058600" cy="28500"/>
            </a:xfrm>
            <a:prstGeom prst="rect">
              <a:avLst/>
            </a:prstGeom>
            <a:solidFill>
              <a:srgbClr val="D9E2E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" name="Google Shape;239;p20"/>
          <p:cNvGrpSpPr/>
          <p:nvPr/>
        </p:nvGrpSpPr>
        <p:grpSpPr>
          <a:xfrm>
            <a:off x="566738" y="1524000"/>
            <a:ext cx="1095300" cy="1181100"/>
            <a:chOff x="566738" y="1524000"/>
            <a:chExt cx="1095300" cy="1181100"/>
          </a:xfrm>
        </p:grpSpPr>
        <p:pic>
          <p:nvPicPr>
            <p:cNvPr id="240" name="Google Shape;240;p20"/>
            <p:cNvPicPr preferRelativeResize="0"/>
            <p:nvPr/>
          </p:nvPicPr>
          <p:blipFill rotWithShape="1">
            <a:blip r:embed="rId3">
              <a:alphaModFix/>
            </a:blip>
            <a:srcRect b="0" l="0" r="10" t="0"/>
            <a:stretch/>
          </p:blipFill>
          <p:spPr>
            <a:xfrm>
              <a:off x="566738" y="1524000"/>
              <a:ext cx="1095300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0"/>
            <p:cNvSpPr txBox="1"/>
            <p:nvPr/>
          </p:nvSpPr>
          <p:spPr>
            <a:xfrm>
              <a:off x="709613" y="1619250"/>
              <a:ext cx="809700" cy="9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Checkout</a:t>
              </a:r>
              <a:endParaRPr b="1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700">
                  <a:solidFill>
                    <a:srgbClr val="BFD4E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read-only token</a:t>
              </a:r>
              <a:endParaRPr b="1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42" name="Google Shape;242;p20"/>
          <p:cNvGrpSpPr/>
          <p:nvPr/>
        </p:nvGrpSpPr>
        <p:grpSpPr>
          <a:xfrm>
            <a:off x="1662113" y="1524000"/>
            <a:ext cx="1095300" cy="1181100"/>
            <a:chOff x="1662113" y="1524000"/>
            <a:chExt cx="1095300" cy="1181100"/>
          </a:xfrm>
        </p:grpSpPr>
        <p:pic>
          <p:nvPicPr>
            <p:cNvPr id="243" name="Google Shape;243;p20"/>
            <p:cNvPicPr preferRelativeResize="0"/>
            <p:nvPr/>
          </p:nvPicPr>
          <p:blipFill rotWithShape="1">
            <a:blip r:embed="rId3">
              <a:alphaModFix/>
            </a:blip>
            <a:srcRect b="0" l="0" r="10" t="0"/>
            <a:stretch/>
          </p:blipFill>
          <p:spPr>
            <a:xfrm>
              <a:off x="1662113" y="1524000"/>
              <a:ext cx="1095300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0"/>
            <p:cNvSpPr txBox="1"/>
            <p:nvPr/>
          </p:nvSpPr>
          <p:spPr>
            <a:xfrm>
              <a:off x="1804988" y="1619250"/>
              <a:ext cx="809700" cy="9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Dependencies</a:t>
              </a:r>
              <a:endParaRPr b="1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700">
                  <a:solidFill>
                    <a:srgbClr val="BFD4E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versions pinned</a:t>
              </a:r>
              <a:endParaRPr b="1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45" name="Google Shape;245;p20"/>
          <p:cNvGrpSpPr/>
          <p:nvPr/>
        </p:nvGrpSpPr>
        <p:grpSpPr>
          <a:xfrm>
            <a:off x="2757488" y="1524000"/>
            <a:ext cx="1095300" cy="1181100"/>
            <a:chOff x="2757488" y="1524000"/>
            <a:chExt cx="1095300" cy="1181100"/>
          </a:xfrm>
        </p:grpSpPr>
        <p:pic>
          <p:nvPicPr>
            <p:cNvPr id="246" name="Google Shape;246;p20"/>
            <p:cNvPicPr preferRelativeResize="0"/>
            <p:nvPr/>
          </p:nvPicPr>
          <p:blipFill rotWithShape="1">
            <a:blip r:embed="rId3">
              <a:alphaModFix/>
            </a:blip>
            <a:srcRect b="0" l="0" r="10" t="0"/>
            <a:stretch/>
          </p:blipFill>
          <p:spPr>
            <a:xfrm>
              <a:off x="2757488" y="1524000"/>
              <a:ext cx="1095300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0"/>
            <p:cNvSpPr txBox="1"/>
            <p:nvPr/>
          </p:nvSpPr>
          <p:spPr>
            <a:xfrm>
              <a:off x="2900363" y="1619250"/>
              <a:ext cx="809700" cy="9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3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Formatting</a:t>
              </a:r>
              <a:endParaRPr b="1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700">
                  <a:solidFill>
                    <a:srgbClr val="BFD4E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Black check</a:t>
              </a:r>
              <a:endParaRPr b="1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3852863" y="1524000"/>
            <a:ext cx="1095300" cy="1181100"/>
            <a:chOff x="3852863" y="1524000"/>
            <a:chExt cx="1095300" cy="1181100"/>
          </a:xfrm>
        </p:grpSpPr>
        <p:pic>
          <p:nvPicPr>
            <p:cNvPr id="249" name="Google Shape;249;p20"/>
            <p:cNvPicPr preferRelativeResize="0"/>
            <p:nvPr/>
          </p:nvPicPr>
          <p:blipFill rotWithShape="1">
            <a:blip r:embed="rId3">
              <a:alphaModFix/>
            </a:blip>
            <a:srcRect b="0" l="0" r="10" t="0"/>
            <a:stretch/>
          </p:blipFill>
          <p:spPr>
            <a:xfrm>
              <a:off x="3852863" y="1524000"/>
              <a:ext cx="1095300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20"/>
            <p:cNvSpPr txBox="1"/>
            <p:nvPr/>
          </p:nvSpPr>
          <p:spPr>
            <a:xfrm>
              <a:off x="3995738" y="1619250"/>
              <a:ext cx="809700" cy="9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4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Linting</a:t>
              </a:r>
              <a:endParaRPr b="1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700">
                  <a:solidFill>
                    <a:srgbClr val="BFD4E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Ruff</a:t>
              </a:r>
              <a:endParaRPr b="1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51" name="Google Shape;251;p20"/>
          <p:cNvGrpSpPr/>
          <p:nvPr/>
        </p:nvGrpSpPr>
        <p:grpSpPr>
          <a:xfrm>
            <a:off x="4948238" y="1524000"/>
            <a:ext cx="1095300" cy="1181100"/>
            <a:chOff x="4948238" y="1524000"/>
            <a:chExt cx="1095300" cy="1181100"/>
          </a:xfrm>
        </p:grpSpPr>
        <p:pic>
          <p:nvPicPr>
            <p:cNvPr id="252" name="Google Shape;252;p20"/>
            <p:cNvPicPr preferRelativeResize="0"/>
            <p:nvPr/>
          </p:nvPicPr>
          <p:blipFill rotWithShape="1">
            <a:blip r:embed="rId3">
              <a:alphaModFix/>
            </a:blip>
            <a:srcRect b="0" l="0" r="10" t="0"/>
            <a:stretch/>
          </p:blipFill>
          <p:spPr>
            <a:xfrm>
              <a:off x="4948238" y="1524000"/>
              <a:ext cx="1095300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0"/>
            <p:cNvSpPr txBox="1"/>
            <p:nvPr/>
          </p:nvSpPr>
          <p:spPr>
            <a:xfrm>
              <a:off x="5091113" y="1619250"/>
              <a:ext cx="809700" cy="9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5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Terraform fmt</a:t>
              </a:r>
              <a:endParaRPr b="1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700">
                  <a:solidFill>
                    <a:srgbClr val="BFD4E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canonical form</a:t>
              </a:r>
              <a:endParaRPr b="1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54" name="Google Shape;254;p20"/>
          <p:cNvGrpSpPr/>
          <p:nvPr/>
        </p:nvGrpSpPr>
        <p:grpSpPr>
          <a:xfrm>
            <a:off x="6043613" y="1524000"/>
            <a:ext cx="1095300" cy="1181100"/>
            <a:chOff x="6043613" y="1524000"/>
            <a:chExt cx="1095300" cy="1181100"/>
          </a:xfrm>
        </p:grpSpPr>
        <p:pic>
          <p:nvPicPr>
            <p:cNvPr id="255" name="Google Shape;255;p20"/>
            <p:cNvPicPr preferRelativeResize="0"/>
            <p:nvPr/>
          </p:nvPicPr>
          <p:blipFill rotWithShape="1">
            <a:blip r:embed="rId3">
              <a:alphaModFix/>
            </a:blip>
            <a:srcRect b="0" l="0" r="10" t="0"/>
            <a:stretch/>
          </p:blipFill>
          <p:spPr>
            <a:xfrm>
              <a:off x="6043613" y="1524000"/>
              <a:ext cx="1095300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0"/>
            <p:cNvSpPr txBox="1"/>
            <p:nvPr/>
          </p:nvSpPr>
          <p:spPr>
            <a:xfrm>
              <a:off x="6186488" y="1619250"/>
              <a:ext cx="809700" cy="9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6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Terraform val</a:t>
              </a:r>
              <a:endParaRPr b="1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700">
                  <a:solidFill>
                    <a:srgbClr val="BFD4E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provider schemas</a:t>
              </a:r>
              <a:endParaRPr b="1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57" name="Google Shape;257;p20"/>
          <p:cNvGrpSpPr/>
          <p:nvPr/>
        </p:nvGrpSpPr>
        <p:grpSpPr>
          <a:xfrm>
            <a:off x="7138988" y="1524000"/>
            <a:ext cx="1095300" cy="1181100"/>
            <a:chOff x="7138988" y="1524000"/>
            <a:chExt cx="1095300" cy="1181100"/>
          </a:xfrm>
        </p:grpSpPr>
        <p:pic>
          <p:nvPicPr>
            <p:cNvPr id="258" name="Google Shape;258;p20"/>
            <p:cNvPicPr preferRelativeResize="0"/>
            <p:nvPr/>
          </p:nvPicPr>
          <p:blipFill rotWithShape="1">
            <a:blip r:embed="rId3">
              <a:alphaModFix/>
            </a:blip>
            <a:srcRect b="0" l="0" r="10" t="0"/>
            <a:stretch/>
          </p:blipFill>
          <p:spPr>
            <a:xfrm>
              <a:off x="7138988" y="1524000"/>
              <a:ext cx="1095300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20"/>
            <p:cNvSpPr txBox="1"/>
            <p:nvPr/>
          </p:nvSpPr>
          <p:spPr>
            <a:xfrm>
              <a:off x="7281863" y="1619250"/>
              <a:ext cx="809700" cy="9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Secret scan</a:t>
              </a:r>
              <a:endParaRPr b="1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700">
                  <a:solidFill>
                    <a:srgbClr val="BFD4E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Gitleaks, history</a:t>
              </a:r>
              <a:endParaRPr b="1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60" name="Google Shape;260;p20"/>
          <p:cNvGrpSpPr/>
          <p:nvPr/>
        </p:nvGrpSpPr>
        <p:grpSpPr>
          <a:xfrm>
            <a:off x="8186738" y="1524000"/>
            <a:ext cx="1095300" cy="1181100"/>
            <a:chOff x="8186738" y="1524000"/>
            <a:chExt cx="1095300" cy="1181100"/>
          </a:xfrm>
        </p:grpSpPr>
        <p:pic>
          <p:nvPicPr>
            <p:cNvPr id="261" name="Google Shape;261;p20"/>
            <p:cNvPicPr preferRelativeResize="0"/>
            <p:nvPr/>
          </p:nvPicPr>
          <p:blipFill rotWithShape="1">
            <a:blip r:embed="rId3">
              <a:alphaModFix/>
            </a:blip>
            <a:srcRect b="0" l="0" r="10" t="0"/>
            <a:stretch/>
          </p:blipFill>
          <p:spPr>
            <a:xfrm>
              <a:off x="8186738" y="1524000"/>
              <a:ext cx="1095300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20"/>
            <p:cNvSpPr txBox="1"/>
            <p:nvPr/>
          </p:nvSpPr>
          <p:spPr>
            <a:xfrm>
              <a:off x="8329613" y="1619250"/>
              <a:ext cx="809700" cy="9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8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Trivy scan</a:t>
              </a:r>
              <a:endParaRPr b="1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700">
                  <a:solidFill>
                    <a:srgbClr val="BFD4E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vuln + config</a:t>
              </a:r>
              <a:endParaRPr b="1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63" name="Google Shape;263;p20"/>
          <p:cNvGrpSpPr/>
          <p:nvPr/>
        </p:nvGrpSpPr>
        <p:grpSpPr>
          <a:xfrm>
            <a:off x="9234488" y="1524000"/>
            <a:ext cx="1095300" cy="1181100"/>
            <a:chOff x="9234488" y="1524000"/>
            <a:chExt cx="1095300" cy="1181100"/>
          </a:xfrm>
        </p:grpSpPr>
        <p:pic>
          <p:nvPicPr>
            <p:cNvPr id="264" name="Google Shape;264;p20"/>
            <p:cNvPicPr preferRelativeResize="0"/>
            <p:nvPr/>
          </p:nvPicPr>
          <p:blipFill rotWithShape="1">
            <a:blip r:embed="rId3">
              <a:alphaModFix/>
            </a:blip>
            <a:srcRect b="0" l="0" r="10" t="0"/>
            <a:stretch/>
          </p:blipFill>
          <p:spPr>
            <a:xfrm>
              <a:off x="9234488" y="1524000"/>
              <a:ext cx="1095300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20"/>
            <p:cNvSpPr txBox="1"/>
            <p:nvPr/>
          </p:nvSpPr>
          <p:spPr>
            <a:xfrm>
              <a:off x="9377363" y="1619250"/>
              <a:ext cx="809700" cy="9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9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Tests</a:t>
              </a:r>
              <a:endParaRPr b="1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700">
                  <a:solidFill>
                    <a:srgbClr val="BFD4E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86 deterministic</a:t>
              </a:r>
              <a:endParaRPr b="1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66" name="Google Shape;266;p20"/>
          <p:cNvGrpSpPr/>
          <p:nvPr/>
        </p:nvGrpSpPr>
        <p:grpSpPr>
          <a:xfrm>
            <a:off x="10282238" y="1524000"/>
            <a:ext cx="1095300" cy="1181100"/>
            <a:chOff x="10282238" y="1524000"/>
            <a:chExt cx="1095300" cy="1181100"/>
          </a:xfrm>
        </p:grpSpPr>
        <p:pic>
          <p:nvPicPr>
            <p:cNvPr id="267" name="Google Shape;267;p20"/>
            <p:cNvPicPr preferRelativeResize="0"/>
            <p:nvPr/>
          </p:nvPicPr>
          <p:blipFill rotWithShape="1">
            <a:blip r:embed="rId4">
              <a:alphaModFix/>
            </a:blip>
            <a:srcRect b="0" l="0" r="10" t="0"/>
            <a:stretch/>
          </p:blipFill>
          <p:spPr>
            <a:xfrm>
              <a:off x="10282238" y="1524000"/>
              <a:ext cx="1095300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0"/>
            <p:cNvSpPr txBox="1"/>
            <p:nvPr/>
          </p:nvSpPr>
          <p:spPr>
            <a:xfrm>
              <a:off x="10425113" y="1619250"/>
              <a:ext cx="809700" cy="9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10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Attestation</a:t>
              </a:r>
              <a:endParaRPr b="1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700">
                  <a:solidFill>
                    <a:srgbClr val="BFD4E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all gates green</a:t>
              </a:r>
              <a:endParaRPr b="1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69" name="Google Shape;269;p20"/>
          <p:cNvSpPr/>
          <p:nvPr/>
        </p:nvSpPr>
        <p:spPr>
          <a:xfrm>
            <a:off x="561975" y="6381750"/>
            <a:ext cx="11058600" cy="960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561975" y="6448425"/>
            <a:ext cx="777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| vivek987pm@gmail.com | +91 8590609366</a:t>
            </a:r>
            <a:endParaRPr sz="90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9610725" y="6448425"/>
            <a:ext cx="2009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 / 12</a:t>
            </a:r>
            <a:endParaRPr b="1" sz="900">
              <a:solidFill>
                <a:srgbClr val="66788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72" name="Google Shape;272;p20"/>
          <p:cNvGrpSpPr/>
          <p:nvPr/>
        </p:nvGrpSpPr>
        <p:grpSpPr>
          <a:xfrm>
            <a:off x="561975" y="2952750"/>
            <a:ext cx="5334000" cy="1571700"/>
            <a:chOff x="561975" y="2952750"/>
            <a:chExt cx="5334000" cy="1571700"/>
          </a:xfrm>
        </p:grpSpPr>
        <p:sp>
          <p:nvSpPr>
            <p:cNvPr id="273" name="Google Shape;273;p20"/>
            <p:cNvSpPr/>
            <p:nvPr/>
          </p:nvSpPr>
          <p:spPr>
            <a:xfrm>
              <a:off x="561975" y="2952750"/>
              <a:ext cx="5334000" cy="1571700"/>
            </a:xfrm>
            <a:prstGeom prst="roundRect">
              <a:avLst>
                <a:gd fmla="val 7272" name="adj"/>
              </a:avLst>
            </a:prstGeom>
            <a:solidFill>
              <a:srgbClr val="FDEEEC"/>
            </a:solidFill>
            <a:ln cap="flat" cmpd="sng" w="9525">
              <a:solidFill>
                <a:srgbClr val="F5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752475" y="2952750"/>
              <a:ext cx="381000" cy="47700"/>
            </a:xfrm>
            <a:prstGeom prst="rect">
              <a:avLst/>
            </a:prstGeom>
            <a:solidFill>
              <a:srgbClr val="EB57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 txBox="1"/>
            <p:nvPr/>
          </p:nvSpPr>
          <p:spPr>
            <a:xfrm>
              <a:off x="752475" y="3143250"/>
              <a:ext cx="4953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757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ANY RED RESULT ANYWHERE</a:t>
              </a:r>
              <a:endParaRPr b="1" sz="1200">
                <a:solidFill>
                  <a:srgbClr val="EB5757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F2D3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Downstream jobs never start. Attestation never prints. Evidence is quarantined. Branch protection blocks the merge.</a:t>
              </a:r>
              <a:endParaRPr b="1" sz="1200">
                <a:solidFill>
                  <a:srgbClr val="EB5757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76" name="Google Shape;276;p20"/>
          <p:cNvGrpSpPr/>
          <p:nvPr/>
        </p:nvGrpSpPr>
        <p:grpSpPr>
          <a:xfrm>
            <a:off x="6296025" y="2952750"/>
            <a:ext cx="5334000" cy="1571700"/>
            <a:chOff x="6296025" y="2952750"/>
            <a:chExt cx="5334000" cy="1571700"/>
          </a:xfrm>
        </p:grpSpPr>
        <p:sp>
          <p:nvSpPr>
            <p:cNvPr id="277" name="Google Shape;277;p20"/>
            <p:cNvSpPr/>
            <p:nvPr/>
          </p:nvSpPr>
          <p:spPr>
            <a:xfrm>
              <a:off x="6296025" y="2952750"/>
              <a:ext cx="5334000" cy="1571700"/>
            </a:xfrm>
            <a:prstGeom prst="roundRect">
              <a:avLst>
                <a:gd fmla="val 7272" name="adj"/>
              </a:avLst>
            </a:prstGeom>
            <a:solidFill>
              <a:srgbClr val="EAF6EE"/>
            </a:solidFill>
            <a:ln cap="flat" cmpd="sng" w="9525">
              <a:solidFill>
                <a:srgbClr val="D1E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6486525" y="2952750"/>
              <a:ext cx="381000" cy="47700"/>
            </a:xfrm>
            <a:prstGeom prst="rect">
              <a:avLst/>
            </a:prstGeom>
            <a:solidFill>
              <a:srgbClr val="2196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 txBox="1"/>
            <p:nvPr/>
          </p:nvSpPr>
          <p:spPr>
            <a:xfrm>
              <a:off x="6486525" y="3143250"/>
              <a:ext cx="4953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1965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ONLY ON ALL-GREEN</a:t>
              </a:r>
              <a:endParaRPr b="1" sz="1200">
                <a:solidFill>
                  <a:srgbClr val="21965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F2D3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Gate 10 prints the promotion attestation naming the exact commit - the sole artifact eligible for staging deployment.</a:t>
              </a:r>
              <a:endParaRPr b="1" sz="1200">
                <a:solidFill>
                  <a:srgbClr val="21965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80" name="Google Shape;280;p20"/>
          <p:cNvGrpSpPr/>
          <p:nvPr/>
        </p:nvGrpSpPr>
        <p:grpSpPr>
          <a:xfrm>
            <a:off x="561975" y="4714875"/>
            <a:ext cx="11068200" cy="1285800"/>
            <a:chOff x="561975" y="4714875"/>
            <a:chExt cx="11068200" cy="1285800"/>
          </a:xfrm>
        </p:grpSpPr>
        <p:sp>
          <p:nvSpPr>
            <p:cNvPr id="281" name="Google Shape;281;p20"/>
            <p:cNvSpPr/>
            <p:nvPr/>
          </p:nvSpPr>
          <p:spPr>
            <a:xfrm>
              <a:off x="561975" y="4714875"/>
              <a:ext cx="11068200" cy="1285800"/>
            </a:xfrm>
            <a:prstGeom prst="roundRect">
              <a:avLst>
                <a:gd fmla="val 8888" name="adj"/>
              </a:avLst>
            </a:prstGeom>
            <a:solidFill>
              <a:srgbClr val="EFF5FB"/>
            </a:solidFill>
            <a:ln cap="flat" cmpd="sng" w="9525">
              <a:solidFill>
                <a:srgbClr val="D2E2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752475" y="4714875"/>
              <a:ext cx="381000" cy="47700"/>
            </a:xfrm>
            <a:prstGeom prst="rect">
              <a:avLst/>
            </a:prstGeom>
            <a:solidFill>
              <a:srgbClr val="1B5FC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752475" y="4905375"/>
              <a:ext cx="106872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Standing drill: every run re-plants the training secret outside its allowlist</a:t>
              </a:r>
              <a:endParaRPr b="1" sz="125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and asserts the detector still fires - detector health is proven continuously, never assumed.</a:t>
              </a:r>
              <a:endParaRPr b="1" sz="115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   DEMONSTRATION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Fail-Closed Behavior You Can Reproduce Today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566928" y="1316736"/>
            <a:ext cx="11057839" cy="2794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66928" y="1847088"/>
            <a:ext cx="960120" cy="384048"/>
          </a:xfrm>
          <a:prstGeom prst="roundRect">
            <a:avLst>
              <a:gd fmla="val 50000" name="adj"/>
            </a:avLst>
          </a:prstGeom>
          <a:solidFill>
            <a:srgbClr val="219653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PASS</a:t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1755648" y="1645920"/>
            <a:ext cx="9869119" cy="932688"/>
          </a:xfrm>
          <a:prstGeom prst="roundRect">
            <a:avLst>
              <a:gd fmla="val 16667" name="adj"/>
            </a:avLst>
          </a:prstGeom>
          <a:solidFill>
            <a:srgbClr val="EAF6EE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1956816" y="1737360"/>
            <a:ext cx="9320479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 documentation change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ten gates green; attestation names the commit eligible for promotion.</a:t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566928" y="2907792"/>
            <a:ext cx="960120" cy="384048"/>
          </a:xfrm>
          <a:prstGeom prst="roundRect">
            <a:avLst>
              <a:gd fmla="val 50000" name="adj"/>
            </a:avLst>
          </a:prstGeom>
          <a:solidFill>
            <a:srgbClr val="EB5757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</a:t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1755648" y="2706624"/>
            <a:ext cx="9869119" cy="932688"/>
          </a:xfrm>
          <a:prstGeom prst="roundRect">
            <a:avLst>
              <a:gd fmla="val 16667" name="adj"/>
            </a:avLst>
          </a:prstGeom>
          <a:solidFill>
            <a:srgbClr val="FDEEEC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1956816" y="2798064"/>
            <a:ext cx="9320479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Malformed module committed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Formatting gate exits non-zero; downstream never starts; merge blocked.</a:t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566928" y="3968496"/>
            <a:ext cx="960120" cy="384048"/>
          </a:xfrm>
          <a:prstGeom prst="roundRect">
            <a:avLst>
              <a:gd fmla="val 50000" name="adj"/>
            </a:avLst>
          </a:prstGeom>
          <a:solidFill>
            <a:srgbClr val="EB5757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</a:t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1755648" y="3767328"/>
            <a:ext cx="9869119" cy="932688"/>
          </a:xfrm>
          <a:prstGeom prst="roundRect">
            <a:avLst>
              <a:gd fmla="val 16667" name="adj"/>
            </a:avLst>
          </a:prstGeom>
          <a:solidFill>
            <a:srgbClr val="FDEEEC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1956816" y="3858768"/>
            <a:ext cx="9320479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Planted secret committed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Detector exits 1 over full history; output redacted; report quarantined.</a:t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566928" y="5029200"/>
            <a:ext cx="960120" cy="384048"/>
          </a:xfrm>
          <a:prstGeom prst="roundRect">
            <a:avLst>
              <a:gd fmla="val 50000" name="adj"/>
            </a:avLst>
          </a:prstGeom>
          <a:solidFill>
            <a:srgbClr val="2F80ED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DRILL</a:t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1755648" y="4828032"/>
            <a:ext cx="9869119" cy="932688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1956816" y="4919472"/>
            <a:ext cx="9320479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Detector health, every run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Planted fixture outside the allowlist must trip Gitleaks - or the build fails.</a:t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566928" y="6382512"/>
            <a:ext cx="11057839" cy="1143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566928" y="64465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  |   vivek987pm@gmail.com  |  +91 8590609366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9613087" y="6446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 / 12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   TASK 3 - SCHEMA VALIDATION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Exact Limits, Zero Judgment</a:t>
            </a: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566928" y="1316736"/>
            <a:ext cx="11057839" cy="2794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566928" y="1645920"/>
            <a:ext cx="3602736" cy="214884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749808" y="1810512"/>
            <a:ext cx="3236976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PRESENCE AND TYPES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 Unknown fields rejected outright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 Coercion forbidden: an integer is not a name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 Stable machine-readable codes per surface</a:t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4293108" y="1645920"/>
            <a:ext cx="3602736" cy="214884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4475988" y="1810512"/>
            <a:ext cx="3236976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BOUNDARIES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 Names: 2 to 120 characters, letter grammar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 Phone: international pattern, 8 to 15 digits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 Age: exactly 2 accepted, 1 day short rejected; 18 in, 19 out</a:t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8019288" y="1645920"/>
            <a:ext cx="3602736" cy="214884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8202168" y="1810512"/>
            <a:ext cx="3236976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 Literal boolean true only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 False, null, "true", and 1 all reject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 Consent is never defaulted or inferred</a:t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566928" y="4069080"/>
            <a:ext cx="11057839" cy="86868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694944" y="4160520"/>
            <a:ext cx="310896" cy="43180"/>
          </a:xfrm>
          <a:prstGeom prst="rect">
            <a:avLst/>
          </a:prstGeom>
          <a:solidFill>
            <a:srgbClr val="122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768096" y="4206240"/>
            <a:ext cx="106555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constants module feeds serializer, model, BigQuery schema, and both spreadsheets.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limit changes in exactly one place - or the build tells us.</a:t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566928" y="5257800"/>
            <a:ext cx="6949440" cy="457200"/>
          </a:xfrm>
          <a:prstGeom prst="roundRect">
            <a:avLst>
              <a:gd fmla="val 50000" name="adj"/>
            </a:avLst>
          </a:prstGeom>
          <a:solidFill>
            <a:srgbClr val="12293E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ERR_AGE_OUTSIDE_WINDOW_CHILD_DATE_OF_BIRTH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7680960" y="528523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rejection carries its code</a:t>
            </a: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566928" y="6382512"/>
            <a:ext cx="11057839" cy="1143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566928" y="64465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  |   vivek987pm@gmail.com  |  +91 8590609366</a:t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9613087" y="6446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 / 12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"/>
          <p:cNvSpPr txBox="1"/>
          <p:nvPr/>
        </p:nvSpPr>
        <p:spPr>
          <a:xfrm>
            <a:off x="566928" y="365760"/>
            <a:ext cx="11057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  DECISION YES/NO LIBRARY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566928" y="621792"/>
            <a:ext cx="11057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Twelve Rules, Two Outcomes, One Verdict</a:t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566928" y="1316736"/>
            <a:ext cx="11057700" cy="2790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p23"/>
          <p:cNvGrpSpPr/>
          <p:nvPr/>
        </p:nvGrpSpPr>
        <p:grpSpPr>
          <a:xfrm>
            <a:off x="571500" y="1619250"/>
            <a:ext cx="5667450" cy="3143175"/>
            <a:chOff x="571500" y="1619250"/>
            <a:chExt cx="5667450" cy="3143175"/>
          </a:xfrm>
        </p:grpSpPr>
        <p:sp>
          <p:nvSpPr>
            <p:cNvPr id="338" name="Google Shape;338;p23"/>
            <p:cNvSpPr/>
            <p:nvPr/>
          </p:nvSpPr>
          <p:spPr>
            <a:xfrm>
              <a:off x="571500" y="1619250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3"/>
            <p:cNvSpPr txBox="1"/>
            <p:nvPr/>
          </p:nvSpPr>
          <p:spPr>
            <a:xfrm>
              <a:off x="685800" y="1619250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R01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parent name valid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40" name="Google Shape;340;p23"/>
            <p:cNvSpPr/>
            <p:nvPr/>
          </p:nvSpPr>
          <p:spPr>
            <a:xfrm>
              <a:off x="2524125" y="1619250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3"/>
            <p:cNvSpPr txBox="1"/>
            <p:nvPr/>
          </p:nvSpPr>
          <p:spPr>
            <a:xfrm>
              <a:off x="2638425" y="1619250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R02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email structurally valid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4476750" y="1619250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3"/>
            <p:cNvSpPr txBox="1"/>
            <p:nvPr/>
          </p:nvSpPr>
          <p:spPr>
            <a:xfrm>
              <a:off x="4591050" y="1619250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R03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phone international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>
              <a:off x="571500" y="2428875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3"/>
            <p:cNvSpPr txBox="1"/>
            <p:nvPr/>
          </p:nvSpPr>
          <p:spPr>
            <a:xfrm>
              <a:off x="685800" y="2428875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R04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child name valid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2524125" y="2428875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3"/>
            <p:cNvSpPr txBox="1"/>
            <p:nvPr/>
          </p:nvSpPr>
          <p:spPr>
            <a:xfrm>
              <a:off x="2638425" y="2428875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R05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birth date is ISO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4476750" y="2428875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3"/>
            <p:cNvSpPr txBox="1"/>
            <p:nvPr/>
          </p:nvSpPr>
          <p:spPr>
            <a:xfrm>
              <a:off x="4591050" y="2428875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R06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age within 2-18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571500" y="3238500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3"/>
            <p:cNvSpPr txBox="1"/>
            <p:nvPr/>
          </p:nvSpPr>
          <p:spPr>
            <a:xfrm>
              <a:off x="685800" y="3238500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R07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category in closed set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2524125" y="3238500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3"/>
            <p:cNvSpPr txBox="1"/>
            <p:nvPr/>
          </p:nvSpPr>
          <p:spPr>
            <a:xfrm>
              <a:off x="2638425" y="3238500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R08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summary bounds or absent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54" name="Google Shape;354;p23"/>
            <p:cNvSpPr/>
            <p:nvPr/>
          </p:nvSpPr>
          <p:spPr>
            <a:xfrm>
              <a:off x="4476750" y="3238500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3"/>
            <p:cNvSpPr txBox="1"/>
            <p:nvPr/>
          </p:nvSpPr>
          <p:spPr>
            <a:xfrm>
              <a:off x="4591050" y="3238500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R09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parental consent true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56" name="Google Shape;356;p23"/>
            <p:cNvSpPr/>
            <p:nvPr/>
          </p:nvSpPr>
          <p:spPr>
            <a:xfrm>
              <a:off x="571500" y="4048125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3"/>
            <p:cNvSpPr txBox="1"/>
            <p:nvPr/>
          </p:nvSpPr>
          <p:spPr>
            <a:xfrm>
              <a:off x="685800" y="4048125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R10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processing consent true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58" name="Google Shape;358;p23"/>
            <p:cNvSpPr/>
            <p:nvPr/>
          </p:nvSpPr>
          <p:spPr>
            <a:xfrm>
              <a:off x="2524125" y="4048125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3"/>
            <p:cNvSpPr txBox="1"/>
            <p:nvPr/>
          </p:nvSpPr>
          <p:spPr>
            <a:xfrm>
              <a:off x="2638425" y="4048125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R11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envelope: no unknowns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60" name="Google Shape;360;p23"/>
            <p:cNvSpPr/>
            <p:nvPr/>
          </p:nvSpPr>
          <p:spPr>
            <a:xfrm>
              <a:off x="4476750" y="4048125"/>
              <a:ext cx="1762200" cy="714300"/>
            </a:xfrm>
            <a:prstGeom prst="roundRect">
              <a:avLst>
                <a:gd fmla="val 8000" name="adj"/>
              </a:avLst>
            </a:prstGeom>
            <a:solidFill>
              <a:srgbClr val="EFF5FB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3"/>
            <p:cNvSpPr txBox="1"/>
            <p:nvPr/>
          </p:nvSpPr>
          <p:spPr>
            <a:xfrm>
              <a:off x="4591050" y="4048125"/>
              <a:ext cx="15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R12 </a:t>
              </a:r>
              <a:r>
                <a:rPr b="0" lang="en-US" sz="80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YES/NO</a:t>
              </a:r>
              <a:endParaRPr b="1" sz="11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2293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exact JSON types</a:t>
              </a:r>
              <a:endParaRPr b="0" sz="10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62" name="Google Shape;362;p23"/>
          <p:cNvGrpSpPr/>
          <p:nvPr/>
        </p:nvGrpSpPr>
        <p:grpSpPr>
          <a:xfrm>
            <a:off x="6762750" y="1619250"/>
            <a:ext cx="4857900" cy="3667050"/>
            <a:chOff x="6762750" y="1619250"/>
            <a:chExt cx="4857900" cy="3667050"/>
          </a:xfrm>
        </p:grpSpPr>
        <p:sp>
          <p:nvSpPr>
            <p:cNvPr id="363" name="Google Shape;363;p23"/>
            <p:cNvSpPr/>
            <p:nvPr/>
          </p:nvSpPr>
          <p:spPr>
            <a:xfrm>
              <a:off x="6762750" y="1619250"/>
              <a:ext cx="4857900" cy="2190900"/>
            </a:xfrm>
            <a:prstGeom prst="roundRect">
              <a:avLst>
                <a:gd fmla="val 5217" name="adj"/>
              </a:avLst>
            </a:prstGeom>
            <a:solidFill>
              <a:srgbClr val="1229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6953250" y="1781175"/>
              <a:ext cx="95400" cy="95400"/>
            </a:xfrm>
            <a:prstGeom prst="ellipse">
              <a:avLst/>
            </a:prstGeom>
            <a:solidFill>
              <a:srgbClr val="EB57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3"/>
            <p:cNvSpPr/>
            <p:nvPr/>
          </p:nvSpPr>
          <p:spPr>
            <a:xfrm>
              <a:off x="7096125" y="1781175"/>
              <a:ext cx="95400" cy="95400"/>
            </a:xfrm>
            <a:prstGeom prst="ellipse">
              <a:avLst/>
            </a:prstGeom>
            <a:solidFill>
              <a:srgbClr val="F2C9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3"/>
            <p:cNvSpPr/>
            <p:nvPr/>
          </p:nvSpPr>
          <p:spPr>
            <a:xfrm>
              <a:off x="7239000" y="1781175"/>
              <a:ext cx="95400" cy="95400"/>
            </a:xfrm>
            <a:prstGeom prst="ellipse">
              <a:avLst/>
            </a:prstGeom>
            <a:solidFill>
              <a:srgbClr val="2196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3"/>
            <p:cNvSpPr txBox="1"/>
            <p:nvPr/>
          </p:nvSpPr>
          <p:spPr>
            <a:xfrm>
              <a:off x="6953250" y="2019300"/>
              <a:ext cx="44769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A9C7E0"/>
                  </a:solidFill>
                  <a:latin typeface="Arial"/>
                  <a:ea typeface="Arial"/>
                  <a:cs typeface="Arial"/>
                  <a:sym typeface="Arial"/>
                </a:rPr>
                <a:t>// ATTESTATION VERDICT</a:t>
              </a:r>
              <a:endParaRPr sz="950">
                <a:solidFill>
                  <a:srgbClr val="A9C7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7EC87E"/>
                  </a:solidFill>
                  <a:latin typeface="Arial"/>
                  <a:ea typeface="Arial"/>
                  <a:cs typeface="Arial"/>
                  <a:sym typeface="Arial"/>
                </a:rPr>
                <a:t>{"all_rules_passed": true,</a:t>
              </a:r>
              <a:endParaRPr sz="1150">
                <a:solidFill>
                  <a:srgbClr val="7EC8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7EC87E"/>
                  </a:solidFill>
                  <a:latin typeface="Arial"/>
                  <a:ea typeface="Arial"/>
                  <a:cs typeface="Arial"/>
                  <a:sym typeface="Arial"/>
                </a:rPr>
                <a:t>"rules": [{"rule_id": "R01", "outcome": "YES"},</a:t>
              </a:r>
              <a:endParaRPr sz="1150">
                <a:solidFill>
                  <a:srgbClr val="7EC8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7EC87E"/>
                  </a:solidFill>
                  <a:latin typeface="Arial"/>
                  <a:ea typeface="Arial"/>
                  <a:cs typeface="Arial"/>
                  <a:sym typeface="Arial"/>
                </a:rPr>
                <a:t>... {"rule_id": "R12", "outcome": "YES"}]}</a:t>
              </a:r>
              <a:endParaRPr sz="1150">
                <a:solidFill>
                  <a:srgbClr val="7EC8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A9C7E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Persisted with every accepted submission — auditability against the exact rules in force.</a:t>
              </a:r>
              <a:endParaRPr b="0" sz="1050">
                <a:solidFill>
                  <a:srgbClr val="A9C7E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6762750" y="4000500"/>
              <a:ext cx="48579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D9E2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6762750" y="4000500"/>
              <a:ext cx="38100" cy="1285800"/>
            </a:xfrm>
            <a:prstGeom prst="roundRect">
              <a:avLst>
                <a:gd fmla="val 50000" name="adj"/>
              </a:avLst>
            </a:prstGeom>
            <a:solidFill>
              <a:srgbClr val="1B5FC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3"/>
            <p:cNvSpPr txBox="1"/>
            <p:nvPr/>
          </p:nvSpPr>
          <p:spPr>
            <a:xfrm>
              <a:off x="6953250" y="4000500"/>
              <a:ext cx="4476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B5FC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Framework-Free Evaluator</a:t>
              </a:r>
              <a:endParaRPr b="1" sz="125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2D3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Identical verdicts at request time, in tests,</a:t>
              </a:r>
              <a:endParaRPr b="1" sz="11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678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and over archived payloads replayed from D0. Decision and validation matrices ship as verified spreadsheets.</a:t>
              </a:r>
              <a:endParaRPr b="0" sz="10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71" name="Google Shape;371;p23"/>
          <p:cNvSpPr/>
          <p:nvPr/>
        </p:nvSpPr>
        <p:spPr>
          <a:xfrm>
            <a:off x="566928" y="6382512"/>
            <a:ext cx="11057700" cy="1140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566928" y="6446520"/>
            <a:ext cx="7772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  |   vivek987pm@gmail.com  |  +91 8590609366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9613087" y="6446520"/>
            <a:ext cx="2011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/ 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   TESTING STRATEGY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Deterministic Proof, Not Hope</a:t>
            </a:r>
            <a:endParaRPr/>
          </a:p>
        </p:txBody>
      </p:sp>
      <p:sp>
        <p:nvSpPr>
          <p:cNvPr id="381" name="Google Shape;381;p24"/>
          <p:cNvSpPr/>
          <p:nvPr/>
        </p:nvSpPr>
        <p:spPr>
          <a:xfrm>
            <a:off x="566928" y="1316736"/>
            <a:ext cx="11057839" cy="2794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 txBox="1"/>
          <p:nvPr/>
        </p:nvSpPr>
        <p:spPr>
          <a:xfrm>
            <a:off x="566928" y="169164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86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566928" y="2331720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DETERMINISTIC TESTS, ALL GREEN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3401568" y="169164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3401568" y="2331720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LAYERS: LIBRARY, SERIALIZER, ENDPOINT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6236208" y="169164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both sides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6236233" y="2419870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EVERY BOUNDARY PROBED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9162288" y="169164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1B5FC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byte-equal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9342025" y="2460400"/>
            <a:ext cx="2377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RECORDS ON REPEATED INPUT</a:t>
            </a:r>
            <a:endParaRPr/>
          </a:p>
        </p:txBody>
      </p:sp>
      <p:graphicFrame>
        <p:nvGraphicFramePr>
          <p:cNvPr id="390" name="Google Shape;390;p24"/>
          <p:cNvGraphicFramePr/>
          <p:nvPr/>
        </p:nvGraphicFramePr>
        <p:xfrm>
          <a:off x="566928" y="3520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{26796B62-BC76-424F-9FC1-9A26B8113F66}</a:tableStyleId>
              </a:tblPr>
              <a:tblGrid>
                <a:gridCol w="2047750"/>
                <a:gridCol w="901010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Layer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1229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What is pinned down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12293E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12293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Library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Each of twelve rules: valid, invalid, missing, mistyped; injectable evaluation date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12293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Serializer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Per-field codes; envelope strictness; coercion attempts; trim and case normalization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EFF5F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12293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Endpoint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1F2D3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201 accept persists + publishes; 400 reject persists nothing; identical repeats stay identical</a:t>
                      </a:r>
                      <a:endParaRPr/>
                    </a:p>
                  </a:txBody>
                  <a:tcPr marT="18300" marB="18300" marR="54875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1" name="Google Shape;391;p24"/>
          <p:cNvSpPr/>
          <p:nvPr/>
        </p:nvSpPr>
        <p:spPr>
          <a:xfrm>
            <a:off x="566928" y="6382512"/>
            <a:ext cx="11057839" cy="1143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566928" y="64465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  |   vivek987pm@gmail.com  |  +91 8590609366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9613087" y="6446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 / 12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5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F80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  CONCLUSION</a:t>
            </a:r>
            <a:endParaRPr/>
          </a:p>
        </p:txBody>
      </p:sp>
      <p:sp>
        <p:nvSpPr>
          <p:cNvPr id="400" name="Google Shape;400;p25"/>
          <p:cNvSpPr txBox="1"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This Blueprint Guarantees</a:t>
            </a:r>
            <a:endParaRPr/>
          </a:p>
        </p:txBody>
      </p:sp>
      <p:sp>
        <p:nvSpPr>
          <p:cNvPr id="401" name="Google Shape;401;p25"/>
          <p:cNvSpPr/>
          <p:nvPr/>
        </p:nvSpPr>
        <p:spPr>
          <a:xfrm>
            <a:off x="566928" y="1316736"/>
            <a:ext cx="11057839" cy="2794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5"/>
          <p:cNvSpPr txBox="1"/>
          <p:nvPr/>
        </p:nvSpPr>
        <p:spPr>
          <a:xfrm>
            <a:off x="566928" y="1645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21965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403" name="Google Shape;403;p25"/>
          <p:cNvSpPr txBox="1"/>
          <p:nvPr/>
        </p:nvSpPr>
        <p:spPr>
          <a:xfrm>
            <a:off x="978408" y="1645920"/>
            <a:ext cx="106463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three tasks delivered; every requirement traced to file-level evidence</a:t>
            </a:r>
            <a:endParaRPr/>
          </a:p>
        </p:txBody>
      </p:sp>
      <p:sp>
        <p:nvSpPr>
          <p:cNvPr id="404" name="Google Shape;404;p25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21965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405" name="Google Shape;405;p25"/>
          <p:cNvSpPr txBox="1"/>
          <p:nvPr/>
        </p:nvSpPr>
        <p:spPr>
          <a:xfrm>
            <a:off x="978408" y="2176272"/>
            <a:ext cx="106463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Assumptions documented where the document was silent - never invented silently</a:t>
            </a:r>
            <a:endParaRPr/>
          </a:p>
        </p:txBody>
      </p:sp>
      <p:sp>
        <p:nvSpPr>
          <p:cNvPr id="406" name="Google Shape;406;p25"/>
          <p:cNvSpPr txBox="1"/>
          <p:nvPr/>
        </p:nvSpPr>
        <p:spPr>
          <a:xfrm>
            <a:off x="566928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21965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407" name="Google Shape;407;p25"/>
          <p:cNvSpPr txBox="1"/>
          <p:nvPr/>
        </p:nvSpPr>
        <p:spPr>
          <a:xfrm>
            <a:off x="978408" y="2706624"/>
            <a:ext cx="106463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Fail-closed end to end: bad code cannot deploy; bad data cannot enter analytics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566928" y="32369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21965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978408" y="3236976"/>
            <a:ext cx="106463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F2D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Auditability by construction: decisions persist beside the data they admitted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566928" y="3977639"/>
            <a:ext cx="110578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NEXT HARDENING STEPS</a:t>
            </a:r>
            <a:endParaRPr/>
          </a:p>
        </p:txBody>
      </p:sp>
      <p:sp>
        <p:nvSpPr>
          <p:cNvPr id="411" name="Google Shape;411;p25"/>
          <p:cNvSpPr/>
          <p:nvPr/>
        </p:nvSpPr>
        <p:spPr>
          <a:xfrm>
            <a:off x="566928" y="4279392"/>
            <a:ext cx="3566160" cy="420624"/>
          </a:xfrm>
          <a:prstGeom prst="roundRect">
            <a:avLst>
              <a:gd fmla="val 50000" name="adj"/>
            </a:avLst>
          </a:prstGeom>
          <a:solidFill>
            <a:srgbClr val="EFF5FB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Armor edge policy</a:t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4315968" y="4279392"/>
            <a:ext cx="3566160" cy="420624"/>
          </a:xfrm>
          <a:prstGeom prst="roundRect">
            <a:avLst>
              <a:gd fmla="val 50000" name="adj"/>
            </a:avLst>
          </a:prstGeom>
          <a:solidFill>
            <a:srgbClr val="EFF5FB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Actions pinned by commit hash</a:t>
            </a:r>
            <a:endParaRPr/>
          </a:p>
        </p:txBody>
      </p:sp>
      <p:sp>
        <p:nvSpPr>
          <p:cNvPr id="413" name="Google Shape;413;p25"/>
          <p:cNvSpPr/>
          <p:nvPr/>
        </p:nvSpPr>
        <p:spPr>
          <a:xfrm>
            <a:off x="8065008" y="4279392"/>
            <a:ext cx="3566160" cy="420624"/>
          </a:xfrm>
          <a:prstGeom prst="roundRect">
            <a:avLst>
              <a:gd fmla="val 50000" name="adj"/>
            </a:avLst>
          </a:prstGeom>
          <a:solidFill>
            <a:srgbClr val="EFF5FB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229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Native row-access policies on provider support</a:t>
            </a:r>
            <a:endParaRPr/>
          </a:p>
        </p:txBody>
      </p:sp>
      <p:sp>
        <p:nvSpPr>
          <p:cNvPr id="414" name="Google Shape;414;p25"/>
          <p:cNvSpPr/>
          <p:nvPr/>
        </p:nvSpPr>
        <p:spPr>
          <a:xfrm>
            <a:off x="566928" y="6382512"/>
            <a:ext cx="11057839" cy="1143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 txBox="1"/>
          <p:nvPr/>
        </p:nvSpPr>
        <p:spPr>
          <a:xfrm>
            <a:off x="566928" y="64465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Vivek R   |   vivek987pm@gmail.com  |  +91 8590609366</a:t>
            </a:r>
            <a:endParaRPr/>
          </a:p>
        </p:txBody>
      </p:sp>
      <p:sp>
        <p:nvSpPr>
          <p:cNvPr id="416" name="Google Shape;416;p25"/>
          <p:cNvSpPr txBox="1"/>
          <p:nvPr/>
        </p:nvSpPr>
        <p:spPr>
          <a:xfrm>
            <a:off x="9613087" y="6446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678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/ 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